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2331720" cy="3977639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640" y="228600"/>
            <a:ext cx="2743200" cy="3977639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0" y="228600"/>
            <a:ext cx="3063240" cy="3977639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274320"/>
            <a:ext cx="2331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Times New Roman"/>
              </a:rPr>
              <a:t>1. Dispatch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502920"/>
            <a:ext cx="233172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subtype unknown; planner uses prior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p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σ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27432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Times New Roman"/>
              </a:rPr>
              <a:t>2. First hospital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502920"/>
            <a:ext cx="2743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imaging reveals subtype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σ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274320"/>
            <a:ext cx="306324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Times New Roman"/>
              </a:rPr>
              <a:t>3. Stay or transfer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502920"/>
            <a:ext cx="306324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decided with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σ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known; treatment times fixed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65960"/>
            <a:ext cx="1874519" cy="54864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9525">
            <a:solidFill>
              <a:srgbClr val="666666"/>
            </a:solidFill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Times New Roman"/>
              </a:rPr>
              <a:t>Pickup location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Times New Roman"/>
              </a:rPr>
              <a:t>(ℓ</a:t>
            </a:r>
            <a:r>
              <a:rPr sz="900" b="0" i="0" baseline="-25000">
                <a:solidFill>
                  <a:srgbClr val="1A1A1A"/>
                </a:solidFill>
                <a:latin typeface="Times New Roman"/>
              </a:rPr>
              <a:t>0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, 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900" b="0" i="0" baseline="-25000">
                <a:solidFill>
                  <a:srgbClr val="1A1A1A"/>
                </a:solidFill>
                <a:latin typeface="Times New Roman"/>
              </a:rPr>
              <a:t>0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, unknown, ·)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914400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DCE6F7"/>
          </a:solidFill>
          <a:ln w="9525">
            <a:solidFill>
              <a:srgbClr val="666666"/>
            </a:solidFill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Times New Roman"/>
              </a:rPr>
              <a:t>EVT-capable center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Times New Roman"/>
              </a:rPr>
              <a:t>(ℓ, 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900" b="0" i="0" baseline="-25000">
                <a:solidFill>
                  <a:srgbClr val="1A1A1A"/>
                </a:solidFill>
                <a:latin typeface="Times New Roman"/>
              </a:rPr>
              <a:t>0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+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τ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, known, 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σ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965960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FBE5D0"/>
          </a:solidFill>
          <a:ln w="9525">
            <a:solidFill>
              <a:srgbClr val="666666"/>
            </a:solidFill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Times New Roman"/>
              </a:rPr>
              <a:t>Thrombolysis-capable center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Times New Roman"/>
              </a:rPr>
              <a:t>(ℓ, 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900" b="0" i="0" baseline="-25000">
                <a:solidFill>
                  <a:srgbClr val="1A1A1A"/>
                </a:solidFill>
                <a:latin typeface="Times New Roman"/>
              </a:rPr>
              <a:t>0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+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τ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, known, 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σ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017520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DDF0DC"/>
          </a:solidFill>
          <a:ln w="9525">
            <a:solidFill>
              <a:srgbClr val="666666"/>
            </a:solidFill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Times New Roman"/>
              </a:rPr>
              <a:t>Non-stroke-center hospital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Times New Roman"/>
              </a:rPr>
              <a:t>(ℓ, 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900" b="0" i="0" baseline="-25000">
                <a:solidFill>
                  <a:srgbClr val="1A1A1A"/>
                </a:solidFill>
                <a:latin typeface="Times New Roman"/>
              </a:rPr>
              <a:t>0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+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τ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, known, </a:t>
            </a:r>
            <a:r>
              <a:rPr sz="900" b="0" i="1">
                <a:solidFill>
                  <a:srgbClr val="1A1A1A"/>
                </a:solidFill>
                <a:latin typeface="Times New Roman"/>
              </a:rPr>
              <a:t>σ</a:t>
            </a:r>
            <a:r>
              <a:rPr sz="900" b="0" i="0">
                <a:solidFill>
                  <a:srgbClr val="1A1A1A"/>
                </a:solidFill>
                <a:latin typeface="Times New Roman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82296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DCE6F7"/>
          </a:solidFill>
          <a:ln w="9525">
            <a:solidFill>
              <a:srgbClr val="666666"/>
            </a:solidFill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  <a:latin typeface="Times New Roman"/>
              </a:rPr>
              <a:t>Treated at EVT-capable center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Times New Roman"/>
              </a:rPr>
              <a:t>needle </a:t>
            </a:r>
            <a:r>
              <a:rPr sz="8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1A1A1A"/>
                </a:solidFill>
                <a:latin typeface="Times New Roman"/>
              </a:rPr>
              <a:t>a</a:t>
            </a:r>
            <a:r>
              <a:rPr sz="800" b="0" i="0">
                <a:solidFill>
                  <a:srgbClr val="1A1A1A"/>
                </a:solidFill>
                <a:latin typeface="Times New Roman"/>
              </a:rPr>
              <a:t> + </a:t>
            </a:r>
            <a:r>
              <a:rPr sz="8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1A1A1A"/>
                </a:solidFill>
                <a:latin typeface="Times New Roman"/>
              </a:rPr>
              <a:t>DTN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Times New Roman"/>
              </a:rPr>
              <a:t>puncture </a:t>
            </a:r>
            <a:r>
              <a:rPr sz="8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1A1A1A"/>
                </a:solidFill>
                <a:latin typeface="Times New Roman"/>
              </a:rPr>
              <a:t>a</a:t>
            </a:r>
            <a:r>
              <a:rPr sz="800" b="0" i="0">
                <a:solidFill>
                  <a:srgbClr val="1A1A1A"/>
                </a:solidFill>
                <a:latin typeface="Times New Roman"/>
              </a:rPr>
              <a:t> + </a:t>
            </a:r>
            <a:r>
              <a:rPr sz="8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1A1A1A"/>
                </a:solidFill>
                <a:latin typeface="Times New Roman"/>
              </a:rPr>
              <a:t>DTP</a:t>
            </a:r>
            <a:r>
              <a:rPr sz="800" b="0" i="0">
                <a:solidFill>
                  <a:srgbClr val="1A1A1A"/>
                </a:solidFill>
                <a:latin typeface="Times New Roman"/>
              </a:rPr>
              <a:t> (direct) or </a:t>
            </a:r>
            <a:r>
              <a:rPr sz="8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1A1A1A"/>
                </a:solidFill>
                <a:latin typeface="Times New Roman"/>
              </a:rPr>
              <a:t>a</a:t>
            </a:r>
            <a:r>
              <a:rPr sz="800" b="0" i="0">
                <a:solidFill>
                  <a:srgbClr val="1A1A1A"/>
                </a:solidFill>
                <a:latin typeface="Times New Roman"/>
              </a:rPr>
              <a:t> + </a:t>
            </a:r>
            <a:r>
              <a:rPr sz="8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1A1A1A"/>
                </a:solidFill>
                <a:latin typeface="Times New Roman"/>
              </a:rPr>
              <a:t>DTP</a:t>
            </a:r>
            <a:r>
              <a:rPr sz="800" b="0" i="0" baseline="30000">
                <a:solidFill>
                  <a:srgbClr val="1A1A1A"/>
                </a:solidFill>
                <a:latin typeface="Times New Roman"/>
              </a:rPr>
              <a:t>tr</a:t>
            </a:r>
            <a:r>
              <a:rPr sz="800" b="0" i="0">
                <a:solidFill>
                  <a:srgbClr val="1A1A1A"/>
                </a:solidFill>
                <a:latin typeface="Times New Roman"/>
              </a:rPr>
              <a:t> (after transfer)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920240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FBE5D0"/>
          </a:solidFill>
          <a:ln w="9525">
            <a:solidFill>
              <a:srgbClr val="666666"/>
            </a:solidFill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  <a:latin typeface="Times New Roman"/>
              </a:rPr>
              <a:t>Treated at thrombolysis-capable center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Times New Roman"/>
              </a:rPr>
              <a:t>needle </a:t>
            </a:r>
            <a:r>
              <a:rPr sz="8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1A1A1A"/>
                </a:solidFill>
                <a:latin typeface="Times New Roman"/>
              </a:rPr>
              <a:t>a</a:t>
            </a:r>
            <a:r>
              <a:rPr sz="800" b="0" i="0">
                <a:solidFill>
                  <a:srgbClr val="1A1A1A"/>
                </a:solidFill>
                <a:latin typeface="Times New Roman"/>
              </a:rPr>
              <a:t> + </a:t>
            </a:r>
            <a:r>
              <a:rPr sz="800" b="0" i="1">
                <a:solidFill>
                  <a:srgbClr val="1A1A1A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1A1A1A"/>
                </a:solidFill>
                <a:latin typeface="Times New Roman"/>
              </a:rPr>
              <a:t>DTN</a:t>
            </a:r>
            <a:r>
              <a:rPr sz="800" b="0" i="0">
                <a:solidFill>
                  <a:srgbClr val="1A1A1A"/>
                </a:solidFill>
                <a:latin typeface="Times New Roman"/>
              </a:rPr>
              <a:t>; no EVT on 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971800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DDF0DC"/>
          </a:solidFill>
          <a:ln w="9525">
            <a:solidFill>
              <a:srgbClr val="666666"/>
            </a:solidFill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  <a:latin typeface="Times New Roman"/>
              </a:rPr>
              <a:t>Remains at non-stroke-center hospital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Times New Roman"/>
              </a:rPr>
              <a:t>no thrombolysis, no EVT on site; treatment only through a later transfer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331720" y="1188720"/>
            <a:ext cx="685800" cy="105156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2331720" y="2240280"/>
            <a:ext cx="685800" cy="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>
            <a:off x="2331720" y="2240280"/>
            <a:ext cx="685800" cy="105156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1234440" y="2606040"/>
            <a:ext cx="173736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route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a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1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: clock +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τ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(ℓ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0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, ℓ)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0" y="1188720"/>
            <a:ext cx="640080" cy="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5440680" y="960120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555"/>
                </a:solidFill>
                <a:latin typeface="Times New Roman"/>
              </a:rPr>
              <a:t>stay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2240280"/>
            <a:ext cx="640080" cy="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5440680" y="2011680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555"/>
                </a:solidFill>
                <a:latin typeface="Times New Roman"/>
              </a:rPr>
              <a:t>stay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0" y="3291840"/>
            <a:ext cx="640080" cy="0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5440680" y="3063240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555"/>
                </a:solidFill>
                <a:latin typeface="Times New Roman"/>
              </a:rPr>
              <a:t>stay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394960" y="1481328"/>
            <a:ext cx="640080" cy="896112"/>
          </a:xfrm>
          <a:prstGeom prst="line">
            <a:avLst/>
          </a:prstGeom>
          <a:ln w="12700">
            <a:solidFill>
              <a:srgbClr val="666666"/>
            </a:solidFill>
            <a:prstDash val="dash"/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 flipV="1">
            <a:off x="5394960" y="2487168"/>
            <a:ext cx="640080" cy="941832"/>
          </a:xfrm>
          <a:prstGeom prst="line">
            <a:avLst/>
          </a:prstGeom>
          <a:ln w="12700">
            <a:solidFill>
              <a:srgbClr val="666666"/>
            </a:solidFill>
            <a:prstDash val="dash"/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 flipV="1">
            <a:off x="5394960" y="1572768"/>
            <a:ext cx="640080" cy="1673352"/>
          </a:xfrm>
          <a:prstGeom prst="line">
            <a:avLst/>
          </a:prstGeom>
          <a:ln w="12700">
            <a:solidFill>
              <a:srgbClr val="666666"/>
            </a:solidFill>
            <a:prstDash val="dash"/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3017520" y="3703320"/>
            <a:ext cx="5760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dashed: transfer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a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2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, clock +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DIDO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+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τ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′(ℓ, ℓ′); at most one transfer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297680"/>
            <a:ext cx="86868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 tIns="27432" bIns="27432"/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55555"/>
                </a:solidFill>
                <a:latin typeface="Times New Roman"/>
              </a:rPr>
              <a:t>Reward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on the terminal state: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P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σ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(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n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,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p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), the probability of mRS 0–1 at 90 days given onset-to-needle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n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and onset-to-puncture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p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55555"/>
                </a:solidFill>
                <a:latin typeface="Times New Roman"/>
              </a:rPr>
              <a:t>First decision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maximizes Σ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σ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p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σ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[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R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(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s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,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a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1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,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s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′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σ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) + max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a₂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R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(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s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′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σ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,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a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2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,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s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″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σ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) ];  </a:t>
            </a:r>
            <a:r>
              <a:rPr sz="800" b="1" i="0">
                <a:solidFill>
                  <a:srgbClr val="555555"/>
                </a:solidFill>
                <a:latin typeface="Times New Roman"/>
              </a:rPr>
              <a:t>second decision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is made with 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σ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known.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03120" y="3429000"/>
            <a:ext cx="6583680" cy="0"/>
          </a:xfrm>
          <a:prstGeom prst="line">
            <a:avLst/>
          </a:prstGeom>
          <a:ln w="9525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103120" y="3401568"/>
            <a:ext cx="0" cy="73152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828799" y="3474720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00152" y="3401568"/>
            <a:ext cx="0" cy="73152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025832" y="3474720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60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97185" y="3401568"/>
            <a:ext cx="0" cy="73152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22865" y="3474720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120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94218" y="3401568"/>
            <a:ext cx="0" cy="73152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19898" y="3474720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180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91250" y="3401568"/>
            <a:ext cx="0" cy="73152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616930" y="3474720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240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88283" y="3401568"/>
            <a:ext cx="0" cy="73152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813963" y="3474720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3310128"/>
            <a:ext cx="54864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657600"/>
            <a:ext cx="73152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onset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89767" y="502920"/>
            <a:ext cx="0" cy="2926080"/>
          </a:xfrm>
          <a:prstGeom prst="line">
            <a:avLst/>
          </a:prstGeom>
          <a:ln w="12700">
            <a:solidFill>
              <a:srgbClr val="B01F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01047" y="274320"/>
            <a:ext cx="237744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01F24"/>
                </a:solidFill>
                <a:latin typeface="Times New Roman"/>
              </a:rPr>
              <a:t>end of outcome window (270 min)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00152" y="502920"/>
            <a:ext cx="0" cy="2926080"/>
          </a:xfrm>
          <a:prstGeom prst="line">
            <a:avLst/>
          </a:prstGeom>
          <a:ln w="9525">
            <a:solidFill>
              <a:srgbClr val="8A8A8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842952" y="274320"/>
            <a:ext cx="9144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pickup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68580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Times New Roman"/>
              </a:rPr>
              <a:t>MDP policy</a:t>
            </a:r>
          </a:p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Times New Roman"/>
              </a:rPr>
              <a:t>direct to EVT-capable center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600199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Times New Roman"/>
              </a:rPr>
              <a:t>Nearest stroke center</a:t>
            </a:r>
          </a:p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Times New Roman"/>
              </a:rPr>
              <a:t>thrombolysis-capable, then transfer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51460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Times New Roman"/>
              </a:rPr>
              <a:t>Nearest hospital</a:t>
            </a:r>
          </a:p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Times New Roman"/>
              </a:rPr>
              <a:t>non-stroke-center, then transfer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804672"/>
            <a:ext cx="1197032" cy="31089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120" y="1719072"/>
            <a:ext cx="1197032" cy="31089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03120" y="2633472"/>
            <a:ext cx="1197032" cy="31089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03120" y="859536"/>
            <a:ext cx="119703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8A8A8A"/>
                </a:solidFill>
                <a:latin typeface="Times New Roman"/>
              </a:rPr>
              <a:t>onset-to-pickup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00152" y="804672"/>
            <a:ext cx="498763" cy="310896"/>
          </a:xfrm>
          <a:prstGeom prst="rect">
            <a:avLst/>
          </a:prstGeom>
          <a:solidFill>
            <a:srgbClr val="B9CD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98916" y="804672"/>
            <a:ext cx="1795549" cy="310896"/>
          </a:xfrm>
          <a:prstGeom prst="rect">
            <a:avLst/>
          </a:prstGeom>
          <a:solidFill>
            <a:srgbClr val="DADA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798916" y="713232"/>
            <a:ext cx="0" cy="493776"/>
          </a:xfrm>
          <a:prstGeom prst="line">
            <a:avLst/>
          </a:prstGeom>
          <a:ln w="158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341716" y="502920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555"/>
                </a:solidFill>
                <a:latin typeface="Times New Roman"/>
              </a:rPr>
              <a:t>arrival 85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96690" y="713232"/>
            <a:ext cx="0" cy="493776"/>
          </a:xfrm>
          <a:prstGeom prst="line">
            <a:avLst/>
          </a:prstGeom>
          <a:ln w="15875">
            <a:solidFill>
              <a:srgbClr val="1F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239490" y="502920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1F4EA3"/>
                </a:solidFill>
                <a:latin typeface="Times New Roman"/>
              </a:rPr>
              <a:t>needle 130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94465" y="713232"/>
            <a:ext cx="0" cy="493776"/>
          </a:xfrm>
          <a:prstGeom prst="line">
            <a:avLst/>
          </a:prstGeom>
          <a:ln w="15875">
            <a:solidFill>
              <a:srgbClr val="1F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137265" y="502920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1F4EA3"/>
                </a:solidFill>
                <a:latin typeface="Times New Roman"/>
              </a:rPr>
              <a:t>puncture 175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00152" y="1719072"/>
            <a:ext cx="239406" cy="310896"/>
          </a:xfrm>
          <a:prstGeom prst="rect">
            <a:avLst/>
          </a:prstGeom>
          <a:solidFill>
            <a:srgbClr val="B9CD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39559" y="1719072"/>
            <a:ext cx="2414016" cy="310896"/>
          </a:xfrm>
          <a:prstGeom prst="rect">
            <a:avLst/>
          </a:prstGeom>
          <a:solidFill>
            <a:srgbClr val="F6C9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53575" y="1719072"/>
            <a:ext cx="498763" cy="310896"/>
          </a:xfrm>
          <a:prstGeom prst="rect">
            <a:avLst/>
          </a:prstGeom>
          <a:solidFill>
            <a:srgbClr val="B9CD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52338" y="1719072"/>
            <a:ext cx="1197032" cy="310896"/>
          </a:xfrm>
          <a:prstGeom prst="rect">
            <a:avLst/>
          </a:prstGeom>
          <a:solidFill>
            <a:srgbClr val="DADA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3539559" y="1627631"/>
            <a:ext cx="0" cy="493777"/>
          </a:xfrm>
          <a:prstGeom prst="line">
            <a:avLst/>
          </a:prstGeom>
          <a:ln w="158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082359" y="1417319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555"/>
                </a:solidFill>
                <a:latin typeface="Times New Roman"/>
              </a:rPr>
              <a:t>arrival 72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437333" y="1627631"/>
            <a:ext cx="0" cy="493777"/>
          </a:xfrm>
          <a:prstGeom prst="line">
            <a:avLst/>
          </a:prstGeom>
          <a:ln w="15875">
            <a:solidFill>
              <a:srgbClr val="1F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980133" y="1417319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1F4EA3"/>
                </a:solidFill>
                <a:latin typeface="Times New Roman"/>
              </a:rPr>
              <a:t>needle 117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3575" y="1627631"/>
            <a:ext cx="0" cy="493777"/>
          </a:xfrm>
          <a:prstGeom prst="line">
            <a:avLst/>
          </a:prstGeom>
          <a:ln w="158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96375" y="1417319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555"/>
                </a:solidFill>
                <a:latin typeface="Times New Roman"/>
              </a:rPr>
              <a:t>depart 193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649371" y="1627631"/>
            <a:ext cx="0" cy="493777"/>
          </a:xfrm>
          <a:prstGeom prst="line">
            <a:avLst/>
          </a:prstGeom>
          <a:ln w="15875">
            <a:solidFill>
              <a:srgbClr val="B0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192171" y="1417319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B01F24"/>
                </a:solidFill>
                <a:latin typeface="Times New Roman"/>
              </a:rPr>
              <a:t>puncture 278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00152" y="2633472"/>
            <a:ext cx="159604" cy="310896"/>
          </a:xfrm>
          <a:prstGeom prst="rect">
            <a:avLst/>
          </a:prstGeom>
          <a:solidFill>
            <a:srgbClr val="B9CD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59757" y="2633472"/>
            <a:ext cx="2414015" cy="310896"/>
          </a:xfrm>
          <a:prstGeom prst="rect">
            <a:avLst/>
          </a:prstGeom>
          <a:solidFill>
            <a:srgbClr val="F6C9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73773" y="2633472"/>
            <a:ext cx="498763" cy="310896"/>
          </a:xfrm>
          <a:prstGeom prst="rect">
            <a:avLst/>
          </a:prstGeom>
          <a:solidFill>
            <a:srgbClr val="B9CD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72536" y="2633472"/>
            <a:ext cx="1197032" cy="310896"/>
          </a:xfrm>
          <a:prstGeom prst="rect">
            <a:avLst/>
          </a:prstGeom>
          <a:solidFill>
            <a:srgbClr val="DADA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459757" y="2542032"/>
            <a:ext cx="0" cy="493776"/>
          </a:xfrm>
          <a:prstGeom prst="line">
            <a:avLst/>
          </a:prstGeom>
          <a:ln w="158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002557" y="2331720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555"/>
                </a:solidFill>
                <a:latin typeface="Times New Roman"/>
              </a:rPr>
              <a:t>arrival 68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73773" y="2542032"/>
            <a:ext cx="0" cy="493776"/>
          </a:xfrm>
          <a:prstGeom prst="line">
            <a:avLst/>
          </a:prstGeom>
          <a:ln w="158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416573" y="2331720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555"/>
                </a:solidFill>
                <a:latin typeface="Times New Roman"/>
              </a:rPr>
              <a:t>depart 189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971053" y="2542032"/>
            <a:ext cx="0" cy="493776"/>
          </a:xfrm>
          <a:prstGeom prst="line">
            <a:avLst/>
          </a:prstGeom>
          <a:ln w="15875">
            <a:solidFill>
              <a:srgbClr val="B0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513853" y="3035808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B01F24"/>
                </a:solidFill>
                <a:latin typeface="Times New Roman"/>
              </a:rPr>
              <a:t>needle 244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569569" y="2542032"/>
            <a:ext cx="0" cy="493776"/>
          </a:xfrm>
          <a:prstGeom prst="line">
            <a:avLst/>
          </a:prstGeom>
          <a:ln w="15875">
            <a:solidFill>
              <a:srgbClr val="B0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112369" y="2331720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B01F24"/>
                </a:solidFill>
                <a:latin typeface="Times New Roman"/>
              </a:rPr>
              <a:t>puncture 274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03120" y="4069080"/>
            <a:ext cx="274320" cy="146304"/>
          </a:xfrm>
          <a:prstGeom prst="rect">
            <a:avLst/>
          </a:prstGeom>
          <a:solidFill>
            <a:srgbClr val="B9CD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04872" y="4023360"/>
            <a:ext cx="201168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ambulance travel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31920" y="4069080"/>
            <a:ext cx="274320" cy="146304"/>
          </a:xfrm>
          <a:prstGeom prst="rect">
            <a:avLst/>
          </a:prstGeom>
          <a:solidFill>
            <a:srgbClr val="F6C9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33672" y="4023360"/>
            <a:ext cx="201168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door-in-door-out (</a:t>
            </a:r>
            <a:r>
              <a:rPr sz="800" b="0" i="1">
                <a:solidFill>
                  <a:srgbClr val="555555"/>
                </a:solidFill>
                <a:latin typeface="Times New Roman"/>
              </a:rPr>
              <a:t>T</a:t>
            </a:r>
            <a:r>
              <a:rPr sz="800" b="0" i="0" baseline="-25000">
                <a:solidFill>
                  <a:srgbClr val="555555"/>
                </a:solidFill>
                <a:latin typeface="Times New Roman"/>
              </a:rPr>
              <a:t>DIDO</a:t>
            </a:r>
            <a:r>
              <a:rPr sz="800" b="0" i="0">
                <a:solidFill>
                  <a:srgbClr val="555555"/>
                </a:solidFill>
                <a:latin typeface="Times New Roman"/>
              </a:rPr>
              <a:t> = 121 min)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4069080"/>
            <a:ext cx="274320" cy="146304"/>
          </a:xfrm>
          <a:prstGeom prst="rect">
            <a:avLst/>
          </a:prstGeom>
          <a:solidFill>
            <a:srgbClr val="DADA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73952" y="4023360"/>
            <a:ext cx="201168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in-hospital to treatment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069080"/>
            <a:ext cx="274320" cy="14630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02752" y="4023360"/>
            <a:ext cx="201168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 tIns="27432" bIns="27432"/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555"/>
                </a:solidFill>
                <a:latin typeface="Times New Roman"/>
              </a:rPr>
              <a:t>onset-to-pickup delay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